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302" r:id="rId3"/>
    <p:sldId id="287" r:id="rId4"/>
    <p:sldId id="295" r:id="rId5"/>
    <p:sldId id="29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87DA21-3DEF-4AFF-94FF-10CE23819A77}">
          <p14:sldIdLst>
            <p14:sldId id="256"/>
            <p14:sldId id="302"/>
            <p14:sldId id="287"/>
            <p14:sldId id="295"/>
            <p14:sldId id="296"/>
          </p14:sldIdLst>
        </p14:section>
        <p14:section name="备用素材" id="{F4B2AD02-CDAC-46F2-8521-B90B3BF40D7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8B8B"/>
    <a:srgbClr val="A8A8A8"/>
    <a:srgbClr val="AADFE5"/>
    <a:srgbClr val="77BBC3"/>
    <a:srgbClr val="D4D4D4"/>
    <a:srgbClr val="6FAC76"/>
    <a:srgbClr val="16789F"/>
    <a:srgbClr val="22819F"/>
    <a:srgbClr val="A64D33"/>
    <a:srgbClr val="E4A7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2" autoAdjust="0"/>
    <p:restoredTop sz="92111" autoAdjust="0"/>
  </p:normalViewPr>
  <p:slideViewPr>
    <p:cSldViewPr snapToGrid="0">
      <p:cViewPr>
        <p:scale>
          <a:sx n="100" d="100"/>
          <a:sy n="100" d="100"/>
        </p:scale>
        <p:origin x="2244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chartColorStyle" Target="colors3.xml"/><Relationship Id="rId1" Type="http://schemas.microsoft.com/office/2011/relationships/chartStyle" Target="style3.xml"/><Relationship Id="rId5" Type="http://schemas.openxmlformats.org/officeDocument/2006/relationships/package" Target="../embeddings/Microsoft_Excel_Worksheet2.xlsx"/><Relationship Id="rId4" Type="http://schemas.openxmlformats.org/officeDocument/2006/relationships/image" Target="../media/image2.png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原图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2E-48E9-BE1C-B9496CBF0B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2E-48E9-BE1C-B9496CBF0B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2E-48E9-BE1C-B9496CBF0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3839912"/>
        <c:axId val="763838272"/>
      </c:barChart>
      <c:catAx>
        <c:axId val="763839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63838272"/>
        <c:crosses val="autoZero"/>
        <c:auto val="1"/>
        <c:lblAlgn val="ctr"/>
        <c:lblOffset val="100"/>
        <c:noMultiLvlLbl val="0"/>
      </c:catAx>
      <c:valAx>
        <c:axId val="763838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6383991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ONE</c:v>
                </c:pt>
              </c:strCache>
            </c:strRef>
          </c:tx>
          <c:spPr>
            <a:solidFill>
              <a:srgbClr val="82B34E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PART 01</c:v>
                </c:pt>
                <c:pt idx="1">
                  <c:v>PART 02</c:v>
                </c:pt>
                <c:pt idx="2">
                  <c:v>PART 03</c:v>
                </c:pt>
                <c:pt idx="3">
                  <c:v>PART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FD-479A-977B-59A30CA9FF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TWO</c:v>
                </c:pt>
              </c:strCache>
            </c:strRef>
          </c:tx>
          <c:spPr>
            <a:solidFill>
              <a:srgbClr val="22222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PART 01</c:v>
                </c:pt>
                <c:pt idx="1">
                  <c:v>PART 02</c:v>
                </c:pt>
                <c:pt idx="2">
                  <c:v>PART 03</c:v>
                </c:pt>
                <c:pt idx="3">
                  <c:v>PART 04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FD-479A-977B-59A30CA9FF9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THREE</c:v>
                </c:pt>
              </c:strCache>
            </c:strRef>
          </c:tx>
          <c:spPr>
            <a:solidFill>
              <a:srgbClr val="4D4D4D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PART 01</c:v>
                </c:pt>
                <c:pt idx="1">
                  <c:v>PART 02</c:v>
                </c:pt>
                <c:pt idx="2">
                  <c:v>PART 03</c:v>
                </c:pt>
                <c:pt idx="3">
                  <c:v>PART 04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FD-479A-977B-59A30CA9FF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-12"/>
        <c:axId val="763839912"/>
        <c:axId val="763838272"/>
      </c:barChart>
      <c:catAx>
        <c:axId val="763839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63838272"/>
        <c:crosses val="autoZero"/>
        <c:auto val="1"/>
        <c:lblAlgn val="ctr"/>
        <c:lblOffset val="100"/>
        <c:noMultiLvlLbl val="0"/>
      </c:catAx>
      <c:valAx>
        <c:axId val="763838272"/>
        <c:scaling>
          <c:orientation val="minMax"/>
          <c:max val="5"/>
        </c:scaling>
        <c:delete val="0"/>
        <c:axPos val="l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63839912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88-42E1-8B64-49664BDA42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blipFill>
              <a:blip xmlns:r="http://schemas.openxmlformats.org/officeDocument/2006/relationships" r:embed="rId4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88-42E1-8B64-49664BDA42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40"/>
        <c:axId val="763839912"/>
        <c:axId val="763838272"/>
      </c:barChart>
      <c:catAx>
        <c:axId val="763839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900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63838272"/>
        <c:crosses val="autoZero"/>
        <c:auto val="1"/>
        <c:lblAlgn val="ctr"/>
        <c:lblOffset val="100"/>
        <c:noMultiLvlLbl val="0"/>
      </c:catAx>
      <c:valAx>
        <c:axId val="76383827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6383991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altLang="zh-CN" sz="900" b="0" i="0" u="none" strike="noStrike" kern="1200" baseline="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zh-CN"/>
    </a:p>
  </c:txPr>
  <c:externalData r:id="rId5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ED7D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55B-47A1-BB7E-1580000CF88D}"/>
              </c:ext>
            </c:extLst>
          </c:dPt>
          <c:dPt>
            <c:idx val="6"/>
            <c:invertIfNegative val="0"/>
            <c:bubble3D val="0"/>
            <c:spPr>
              <a:solidFill>
                <a:srgbClr val="ED7D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B55B-47A1-BB7E-1580000CF88D}"/>
              </c:ext>
            </c:extLst>
          </c:dPt>
          <c:cat>
            <c:strRef>
              <c:f>Sheet1!$A$2:$A$10</c:f>
              <c:strCache>
                <c:ptCount val="9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  <c:pt idx="5">
                  <c:v>类别 6</c:v>
                </c:pt>
                <c:pt idx="6">
                  <c:v>类别 7</c:v>
                </c:pt>
                <c:pt idx="7">
                  <c:v>类别 8</c:v>
                </c:pt>
                <c:pt idx="8">
                  <c:v>类别 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2.4</c:v>
                </c:pt>
                <c:pt idx="5">
                  <c:v>4.4000000000000004</c:v>
                </c:pt>
                <c:pt idx="6">
                  <c:v>1.8</c:v>
                </c:pt>
                <c:pt idx="7">
                  <c:v>2.8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2E-48E9-BE1C-B9496CBF0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3839912"/>
        <c:axId val="763838272"/>
      </c:barChart>
      <c:catAx>
        <c:axId val="763839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63838272"/>
        <c:crosses val="autoZero"/>
        <c:auto val="1"/>
        <c:lblAlgn val="ctr"/>
        <c:lblOffset val="100"/>
        <c:noMultiLvlLbl val="0"/>
      </c:catAx>
      <c:valAx>
        <c:axId val="76383827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6383991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solidFill>
        <a:schemeClr val="tx1">
          <a:lumMod val="95000"/>
          <a:lumOff val="5000"/>
        </a:schemeClr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rgbClr val="D63D5B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D63D5B"/>
              </a:solidFill>
              <a:ln w="9525">
                <a:solidFill>
                  <a:srgbClr val="D63D5B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  <c:pt idx="5">
                  <c:v>类别 6</c:v>
                </c:pt>
                <c:pt idx="6">
                  <c:v>类别 7</c:v>
                </c:pt>
                <c:pt idx="7">
                  <c:v>类别 8</c:v>
                </c:pt>
                <c:pt idx="8">
                  <c:v>类别 9</c:v>
                </c:pt>
                <c:pt idx="9">
                  <c:v>类别 10</c:v>
                </c:pt>
                <c:pt idx="10">
                  <c:v>类别 11</c:v>
                </c:pt>
                <c:pt idx="11">
                  <c:v>类别 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5.9</c:v>
                </c:pt>
                <c:pt idx="5">
                  <c:v>5.0999999999999996</c:v>
                </c:pt>
                <c:pt idx="6">
                  <c:v>3</c:v>
                </c:pt>
                <c:pt idx="7">
                  <c:v>6.2</c:v>
                </c:pt>
                <c:pt idx="8">
                  <c:v>7</c:v>
                </c:pt>
                <c:pt idx="9">
                  <c:v>7.5</c:v>
                </c:pt>
                <c:pt idx="10">
                  <c:v>7.2</c:v>
                </c:pt>
                <c:pt idx="11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58-436E-9531-58AC723DDE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rgbClr val="3B86C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3B86C7"/>
              </a:solidFill>
              <a:ln w="9525">
                <a:solidFill>
                  <a:srgbClr val="3B86C7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  <c:pt idx="5">
                  <c:v>类别 6</c:v>
                </c:pt>
                <c:pt idx="6">
                  <c:v>类别 7</c:v>
                </c:pt>
                <c:pt idx="7">
                  <c:v>类别 8</c:v>
                </c:pt>
                <c:pt idx="8">
                  <c:v>类别 9</c:v>
                </c:pt>
                <c:pt idx="9">
                  <c:v>类别 10</c:v>
                </c:pt>
                <c:pt idx="10">
                  <c:v>类别 11</c:v>
                </c:pt>
                <c:pt idx="11">
                  <c:v>类别 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6.9</c:v>
                </c:pt>
                <c:pt idx="5">
                  <c:v>9</c:v>
                </c:pt>
                <c:pt idx="6">
                  <c:v>7.2</c:v>
                </c:pt>
                <c:pt idx="7">
                  <c:v>7</c:v>
                </c:pt>
                <c:pt idx="8">
                  <c:v>4.4000000000000004</c:v>
                </c:pt>
                <c:pt idx="9">
                  <c:v>8</c:v>
                </c:pt>
                <c:pt idx="10">
                  <c:v>9</c:v>
                </c:pt>
                <c:pt idx="11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58-436E-9531-58AC723DDE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70513984"/>
        <c:axId val="670512016"/>
      </c:lineChart>
      <c:catAx>
        <c:axId val="670513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70512016"/>
        <c:crosses val="autoZero"/>
        <c:auto val="1"/>
        <c:lblAlgn val="ctr"/>
        <c:lblOffset val="100"/>
        <c:noMultiLvlLbl val="0"/>
      </c:catAx>
      <c:valAx>
        <c:axId val="670512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70513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gradFill>
                <a:gsLst>
                  <a:gs pos="0">
                    <a:srgbClr val="3B86C7"/>
                  </a:gs>
                  <a:gs pos="100000">
                    <a:srgbClr val="00B050"/>
                  </a:gs>
                </a:gsLst>
                <a:lin ang="5400000" scaled="1"/>
              </a:gradFill>
              <a:round/>
            </a:ln>
            <a:effectLst>
              <a:softEdge rad="0"/>
            </a:effectLst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  <c:pt idx="5">
                  <c:v>类别 6</c:v>
                </c:pt>
                <c:pt idx="6">
                  <c:v>类别 7</c:v>
                </c:pt>
                <c:pt idx="7">
                  <c:v>类别 8</c:v>
                </c:pt>
                <c:pt idx="8">
                  <c:v>类别 9</c:v>
                </c:pt>
                <c:pt idx="9">
                  <c:v>类别 10</c:v>
                </c:pt>
                <c:pt idx="10">
                  <c:v>类别 11</c:v>
                </c:pt>
                <c:pt idx="11">
                  <c:v>类别 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4</c:v>
                </c:pt>
                <c:pt idx="5">
                  <c:v>4.5</c:v>
                </c:pt>
                <c:pt idx="6">
                  <c:v>4.5999999999999996</c:v>
                </c:pt>
                <c:pt idx="7">
                  <c:v>5</c:v>
                </c:pt>
                <c:pt idx="8">
                  <c:v>4.8</c:v>
                </c:pt>
                <c:pt idx="9">
                  <c:v>6</c:v>
                </c:pt>
                <c:pt idx="10">
                  <c:v>6.2</c:v>
                </c:pt>
                <c:pt idx="11">
                  <c:v>6.6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668-40BC-8573-B6229344CB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0640696"/>
        <c:axId val="860635776"/>
      </c:lineChart>
      <c:catAx>
        <c:axId val="860640696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1">
                    <a:lumMod val="85000"/>
                  </a:schemeClr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defRPr>
            </a:pPr>
            <a:endParaRPr lang="zh-CN"/>
          </a:p>
        </c:txPr>
        <c:crossAx val="860635776"/>
        <c:crosses val="autoZero"/>
        <c:auto val="1"/>
        <c:lblAlgn val="ctr"/>
        <c:lblOffset val="100"/>
        <c:noMultiLvlLbl val="0"/>
      </c:catAx>
      <c:valAx>
        <c:axId val="86063577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zh-CN"/>
          </a:p>
        </c:txPr>
        <c:crossAx val="860640696"/>
        <c:crosses val="autoZero"/>
        <c:crossBetween val="between"/>
      </c:valAx>
      <c:spPr>
        <a:noFill/>
        <a:ln w="3175"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18212B"/>
    </a:solidFill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E4A75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387-4CF6-A2AF-6893BEFD1BA6}"/>
              </c:ext>
            </c:extLst>
          </c:dPt>
          <c:dPt>
            <c:idx val="1"/>
            <c:bubble3D val="0"/>
            <c:spPr>
              <a:solidFill>
                <a:srgbClr val="6FAC7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E387-4CF6-A2AF-6893BEFD1BA6}"/>
              </c:ext>
            </c:extLst>
          </c:dPt>
          <c:dPt>
            <c:idx val="2"/>
            <c:bubble3D val="0"/>
            <c:spPr>
              <a:solidFill>
                <a:srgbClr val="16789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387-4CF6-A2AF-6893BEFD1BA6}"/>
              </c:ext>
            </c:extLst>
          </c:dPt>
          <c:dPt>
            <c:idx val="3"/>
            <c:bubble3D val="0"/>
            <c:spPr>
              <a:solidFill>
                <a:srgbClr val="A64D3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E387-4CF6-A2AF-6893BEFD1BA6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87-4CF6-A2AF-6893BEFD1B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8-4F58-9F26-E15F9B2C7F68}"/>
              </c:ext>
            </c:extLst>
          </c:dPt>
          <c:dPt>
            <c:idx val="1"/>
            <c:bubble3D val="0"/>
            <c:spPr>
              <a:solidFill>
                <a:srgbClr val="6FAC7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18-4F58-9F26-E15F9B2C7F68}"/>
              </c:ext>
            </c:extLst>
          </c:dPt>
          <c:dPt>
            <c:idx val="2"/>
            <c:bubble3D val="0"/>
            <c:spPr>
              <a:solidFill>
                <a:srgbClr val="16789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A18-4F58-9F26-E15F9B2C7F68}"/>
              </c:ext>
            </c:extLst>
          </c:dPt>
          <c:dPt>
            <c:idx val="3"/>
            <c:bubble3D val="0"/>
            <c:spPr>
              <a:solidFill>
                <a:srgbClr val="A64D3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A18-4F58-9F26-E15F9B2C7F68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A18-4F58-9F26-E15F9B2C7F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B45-4938-8D2C-8DAD41B13F4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45-4938-8D2C-8DAD41B13F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631F1-6289-456F-9F56-ADEA57E295F2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68A44-33A9-475D-B022-782466171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74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68A44-33A9-475D-B022-782466171F1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590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C9AC1-53B6-48CB-9059-84B11B623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F1FD09-9EAF-47CC-982B-2B0B3200E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43B067-F761-48A7-A77C-44A3B6D2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643C0A-B5FA-4AFD-8D0F-C88787A65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33EA9-AC72-47B0-8833-57C005CF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15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997CC-C602-496B-80C7-836A47D6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250C07-A698-46A9-B055-1E35DF601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4CE238-6B8D-418B-A021-3243F189D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539601-86A1-48C3-A194-A956F135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5BFC39-0B95-41DF-A934-A203FB98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18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63CF1-3483-4866-A806-F1654683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F8CDE2-E845-43D0-A9F1-4E91BC998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8EC7C9-75C9-48BB-A9A5-95E445802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B3C11C-380C-4DC3-8938-C215D5B1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5BFA57-4A08-4F9E-8326-E63418B0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71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2688D-7695-4AE1-AA08-75933E455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FFA884-10A0-4C51-BBBC-E521E5B04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3B4D94-0558-475A-9E7C-7ABE84CDD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26AD81-1ED2-44EC-B409-CEDB4DC8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1530F3-1955-428A-AF88-E75A8E25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4BAB3C-F0E7-4CFD-A89D-D9C307967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961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922A2-1D9F-4CEB-ADA7-04DCDD066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E38E6B-98C4-48C4-A75F-8A3ED45AE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E9BB58-313B-4DE4-B05E-1A86DA4F7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BB2054-093D-4859-81CE-0B98B436B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1F1FCC-749F-42BC-8865-90B021C3D1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B9344F-7D76-42AA-BE28-5F95AAD1C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FCEE49-2C9F-4E16-A719-CA9FB1CC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D2D420D-F4CC-4F04-80AF-5C1E0C5E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46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DB052-34B5-4054-BDC0-5C54D821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F3D835-1F26-44C4-8897-7A87BC34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6B3198-E4A4-44DA-B0C2-91270976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4A2A1E-1C45-45B6-9DC3-B5621F66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7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6DE3B7-11DB-466A-95A7-0C44363E9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83C513-789E-4D31-8015-0B32F446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B5475F-68CC-490F-BCEB-3879850B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021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6EA7B-24B8-4A39-93B7-B507C1493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8ACBF7-64CD-4CC5-B8EB-AFD27AD2E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D18CB9-3C28-4EE7-AC79-423D34C0C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2B8E39-BA7F-4943-8958-CA121368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C0A4A2-83B4-400E-BE3F-542305F7A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2E97B5-FC2D-4FC8-8CEF-8D5A7D2F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379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3026F-ADD9-469D-96F2-BAFF4EF5A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569161-111F-41B1-B218-5D7991C43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95AAD-438F-49C8-8846-AC274DDFA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33CC5E-C74F-4CC5-9A0B-99182B2A2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9E8C1F-26EB-44D8-BEC6-E4C5E488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25CE40-6ACD-4E55-B8EE-A722315E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7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5DA79-C423-4FBE-A133-E9B3F930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29B9BA-ED4E-4000-BA8F-518884F71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EFCDC8-FB43-407A-A401-A00BF3297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4EF490-BE06-4DA6-8C7C-E61269DAA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C2A1D4-9EEE-42C0-AD76-7690873C3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708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BF2971-52FE-4E5B-A7FA-B7C350AF2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58B27A-589A-44A3-9061-8ECD4AEDC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1B5F8-7B76-4184-991D-CCA9438D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D42D25-C88D-47ED-9C6C-9EE0B588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9886CE-5F08-470F-B0A1-39235CEB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407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1F4D0B-E828-4E46-9AD6-95339C32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D86300-F45B-47EC-80B1-CAEB673EE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718896-55D4-49BD-92BF-99BE11D8C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1D17A-DE3D-4C1C-B07D-2D2E976CF74B}" type="datetimeFigureOut">
              <a:rPr lang="zh-CN" altLang="en-US" smtClean="0"/>
              <a:t>2020/2/24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E73CFA-4AD0-46E8-BF7F-ED754A6C1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CD0D08-F85F-402D-A66C-66F001BDC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71A24-3267-4FD6-9CB7-121884C508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738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9083C-DB04-4FC8-9604-230834FA2C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商业图表的应用于美化之道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B41956-4316-4CE4-BC19-3C55159A40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多少人心中的痛</a:t>
            </a:r>
          </a:p>
        </p:txBody>
      </p:sp>
    </p:spTree>
    <p:extLst>
      <p:ext uri="{BB962C8B-B14F-4D97-AF65-F5344CB8AC3E}">
        <p14:creationId xmlns:p14="http://schemas.microsoft.com/office/powerpoint/2010/main" val="2955513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DAB93-41FF-4A63-A3E7-A9B4F102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如何美化图表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797261-8DF9-43D0-A2F5-3CE0F9EB0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增加图表的专业度</a:t>
            </a:r>
            <a:endParaRPr lang="en-US" altLang="zh-CN" dirty="0"/>
          </a:p>
          <a:p>
            <a:pPr lvl="1"/>
            <a:r>
              <a:rPr lang="zh-CN" altLang="en-US" dirty="0"/>
              <a:t>数据看起来更加紧密一些，更加专业一些</a:t>
            </a:r>
            <a:endParaRPr lang="en-US" altLang="zh-CN" dirty="0"/>
          </a:p>
          <a:p>
            <a:r>
              <a:rPr lang="zh-CN" altLang="en-US" dirty="0"/>
              <a:t>降低无效信息量</a:t>
            </a:r>
            <a:endParaRPr lang="en-US" altLang="zh-CN" dirty="0"/>
          </a:p>
          <a:p>
            <a:r>
              <a:rPr lang="zh-CN" altLang="en-US" dirty="0"/>
              <a:t>修饰布局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8520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D329B11-FA37-42FC-898E-DF57014266F9}"/>
              </a:ext>
            </a:extLst>
          </p:cNvPr>
          <p:cNvSpPr/>
          <p:nvPr/>
        </p:nvSpPr>
        <p:spPr>
          <a:xfrm>
            <a:off x="1" y="0"/>
            <a:ext cx="78105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柱形图</a:t>
            </a:r>
            <a:r>
              <a:rPr lang="en-US" altLang="zh-CN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&amp;&amp;</a:t>
            </a:r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条形图</a:t>
            </a: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E78EFAE6-F5D0-49EB-B917-492AFFEE85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1182057"/>
              </p:ext>
            </p:extLst>
          </p:nvPr>
        </p:nvGraphicFramePr>
        <p:xfrm>
          <a:off x="1403350" y="694266"/>
          <a:ext cx="3143250" cy="2331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2" name="图表 61">
            <a:extLst>
              <a:ext uri="{FF2B5EF4-FFF2-40B4-BE49-F238E27FC236}">
                <a16:creationId xmlns:a16="http://schemas.microsoft.com/office/drawing/2014/main" id="{00BC99B7-C390-4897-8DC5-78A35A2B11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7978136"/>
              </p:ext>
            </p:extLst>
          </p:nvPr>
        </p:nvGraphicFramePr>
        <p:xfrm>
          <a:off x="7042150" y="694266"/>
          <a:ext cx="3270250" cy="3363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8" name="图表 67">
            <a:extLst>
              <a:ext uri="{FF2B5EF4-FFF2-40B4-BE49-F238E27FC236}">
                <a16:creationId xmlns:a16="http://schemas.microsoft.com/office/drawing/2014/main" id="{EDC40EF7-D64B-4111-8267-BEAC4A0A52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0572672"/>
              </p:ext>
            </p:extLst>
          </p:nvPr>
        </p:nvGraphicFramePr>
        <p:xfrm>
          <a:off x="7042150" y="4210050"/>
          <a:ext cx="4054386" cy="232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8" name="图表 87">
            <a:extLst>
              <a:ext uri="{FF2B5EF4-FFF2-40B4-BE49-F238E27FC236}">
                <a16:creationId xmlns:a16="http://schemas.microsoft.com/office/drawing/2014/main" id="{D95573DA-19ED-4CBF-BEAB-1CACD6BEBD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0302077"/>
              </p:ext>
            </p:extLst>
          </p:nvPr>
        </p:nvGraphicFramePr>
        <p:xfrm>
          <a:off x="1403350" y="3765550"/>
          <a:ext cx="3022598" cy="29379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1" name="矩形 40">
            <a:extLst>
              <a:ext uri="{FF2B5EF4-FFF2-40B4-BE49-F238E27FC236}">
                <a16:creationId xmlns:a16="http://schemas.microsoft.com/office/drawing/2014/main" id="{103EF924-954A-4057-B477-B814B9883DB4}"/>
              </a:ext>
            </a:extLst>
          </p:cNvPr>
          <p:cNvSpPr/>
          <p:nvPr/>
        </p:nvSpPr>
        <p:spPr>
          <a:xfrm>
            <a:off x="1619250" y="5086350"/>
            <a:ext cx="2057400" cy="1346200"/>
          </a:xfrm>
          <a:prstGeom prst="rect">
            <a:avLst/>
          </a:prstGeom>
          <a:solidFill>
            <a:schemeClr val="tx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49172A3-C47F-44E0-89E7-15B8F54B7F2E}"/>
              </a:ext>
            </a:extLst>
          </p:cNvPr>
          <p:cNvSpPr/>
          <p:nvPr/>
        </p:nvSpPr>
        <p:spPr>
          <a:xfrm>
            <a:off x="1403350" y="3378200"/>
            <a:ext cx="3022598" cy="387350"/>
          </a:xfrm>
          <a:prstGeom prst="rect">
            <a:avLst/>
          </a:prstGeom>
          <a:solidFill>
            <a:srgbClr val="0D0D0D"/>
          </a:solidFill>
          <a:ln>
            <a:solidFill>
              <a:srgbClr val="0D0D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华文细黑" panose="02010600040101010101" pitchFamily="2" charset="-122"/>
                <a:ea typeface="华文细黑" panose="02010600040101010101" pitchFamily="2" charset="-122"/>
              </a:rPr>
              <a:t>某某产品</a:t>
            </a:r>
            <a:r>
              <a:rPr lang="en-US" altLang="zh-CN" sz="1000" dirty="0">
                <a:latin typeface="华文细黑" panose="02010600040101010101" pitchFamily="2" charset="-122"/>
                <a:ea typeface="华文细黑" panose="02010600040101010101" pitchFamily="2" charset="-122"/>
              </a:rPr>
              <a:t>2017</a:t>
            </a:r>
            <a:r>
              <a:rPr lang="zh-CN" altLang="en-US" sz="1000" dirty="0">
                <a:latin typeface="华文细黑" panose="02010600040101010101" pitchFamily="2" charset="-122"/>
                <a:ea typeface="华文细黑" panose="02010600040101010101" pitchFamily="2" charset="-122"/>
              </a:rPr>
              <a:t>年度销售统计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7BF6F78-E9EA-4335-BB9C-EC4A8CCCC3BA}"/>
              </a:ext>
            </a:extLst>
          </p:cNvPr>
          <p:cNvSpPr/>
          <p:nvPr/>
        </p:nvSpPr>
        <p:spPr>
          <a:xfrm>
            <a:off x="3079749" y="4591050"/>
            <a:ext cx="1219199" cy="1841500"/>
          </a:xfrm>
          <a:prstGeom prst="rect">
            <a:avLst/>
          </a:prstGeom>
          <a:solidFill>
            <a:srgbClr val="ED7D31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5548FEB4-2A47-49D1-92E4-B6FD206C9094}"/>
              </a:ext>
            </a:extLst>
          </p:cNvPr>
          <p:cNvSpPr/>
          <p:nvPr/>
        </p:nvSpPr>
        <p:spPr>
          <a:xfrm>
            <a:off x="2159001" y="4413250"/>
            <a:ext cx="1219199" cy="20193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555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F1D662-BFF8-41E9-85DA-782123E8A67D}"/>
              </a:ext>
            </a:extLst>
          </p:cNvPr>
          <p:cNvSpPr/>
          <p:nvPr/>
        </p:nvSpPr>
        <p:spPr>
          <a:xfrm>
            <a:off x="1" y="0"/>
            <a:ext cx="78105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折线图</a:t>
            </a: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0F49EE15-4841-4FBD-846A-7935465651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9425921"/>
              </p:ext>
            </p:extLst>
          </p:nvPr>
        </p:nvGraphicFramePr>
        <p:xfrm>
          <a:off x="1500130" y="1058334"/>
          <a:ext cx="4595870" cy="2175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34D54B9-84F4-4DA3-BCF5-5447698B3EFC}"/>
              </a:ext>
            </a:extLst>
          </p:cNvPr>
          <p:cNvSpPr/>
          <p:nvPr/>
        </p:nvSpPr>
        <p:spPr>
          <a:xfrm>
            <a:off x="2025650" y="1684867"/>
            <a:ext cx="920750" cy="1276350"/>
          </a:xfrm>
          <a:prstGeom prst="rect">
            <a:avLst/>
          </a:prstGeom>
          <a:solidFill>
            <a:schemeClr val="tx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403956-7387-4641-B777-BE23A5B16453}"/>
              </a:ext>
            </a:extLst>
          </p:cNvPr>
          <p:cNvSpPr/>
          <p:nvPr/>
        </p:nvSpPr>
        <p:spPr>
          <a:xfrm>
            <a:off x="3862329" y="2142067"/>
            <a:ext cx="920750" cy="819150"/>
          </a:xfrm>
          <a:prstGeom prst="rect">
            <a:avLst/>
          </a:prstGeom>
          <a:solidFill>
            <a:schemeClr val="accent1">
              <a:lumMod val="75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AB166A36-54A4-49D4-ADA9-36D7DAF259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6673160"/>
              </p:ext>
            </p:extLst>
          </p:nvPr>
        </p:nvGraphicFramePr>
        <p:xfrm>
          <a:off x="6677790" y="1058334"/>
          <a:ext cx="4946650" cy="2722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49897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8891D13-5E0D-4F12-8A02-28006B98746A}"/>
              </a:ext>
            </a:extLst>
          </p:cNvPr>
          <p:cNvSpPr/>
          <p:nvPr/>
        </p:nvSpPr>
        <p:spPr>
          <a:xfrm>
            <a:off x="1" y="0"/>
            <a:ext cx="78105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饼图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A61F089-6629-430A-B545-F78B3F539A11}"/>
              </a:ext>
            </a:extLst>
          </p:cNvPr>
          <p:cNvGrpSpPr/>
          <p:nvPr/>
        </p:nvGrpSpPr>
        <p:grpSpPr>
          <a:xfrm>
            <a:off x="994031" y="195789"/>
            <a:ext cx="4206875" cy="3233209"/>
            <a:chOff x="2031998" y="195789"/>
            <a:chExt cx="4206875" cy="3233209"/>
          </a:xfrm>
        </p:grpSpPr>
        <p:graphicFrame>
          <p:nvGraphicFramePr>
            <p:cNvPr id="6" name="图表 5">
              <a:extLst>
                <a:ext uri="{FF2B5EF4-FFF2-40B4-BE49-F238E27FC236}">
                  <a16:creationId xmlns:a16="http://schemas.microsoft.com/office/drawing/2014/main" id="{5901D8F8-C9E4-476C-B1CE-CDE43449F28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9569925"/>
                </p:ext>
              </p:extLst>
            </p:nvPr>
          </p:nvGraphicFramePr>
          <p:xfrm>
            <a:off x="2031998" y="195789"/>
            <a:ext cx="4206875" cy="32332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5194E6D-6BD3-4F20-A47E-7DB383995569}"/>
                </a:ext>
              </a:extLst>
            </p:cNvPr>
            <p:cNvSpPr txBox="1"/>
            <p:nvPr/>
          </p:nvSpPr>
          <p:spPr>
            <a:xfrm>
              <a:off x="3597272" y="1581560"/>
              <a:ext cx="10763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>
                      <a:lumMod val="65000"/>
                    </a:schemeClr>
                  </a:solidFill>
                  <a:latin typeface="Berlin Sans FB" panose="020E0602020502020306" pitchFamily="34" charset="0"/>
                </a:rPr>
                <a:t>100%</a:t>
              </a:r>
              <a:endParaRPr lang="zh-CN" altLang="en-US" sz="2400" dirty="0">
                <a:solidFill>
                  <a:schemeClr val="bg1">
                    <a:lumMod val="65000"/>
                  </a:schemeClr>
                </a:solidFill>
                <a:latin typeface="Berlin Sans FB" panose="020E0602020502020306" pitchFamily="34" charset="0"/>
              </a:endParaRPr>
            </a:p>
          </p:txBody>
        </p:sp>
      </p:grpSp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893C6C90-132D-4719-9737-C1428F07E5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1743333"/>
              </p:ext>
            </p:extLst>
          </p:nvPr>
        </p:nvGraphicFramePr>
        <p:xfrm>
          <a:off x="6982099" y="195787"/>
          <a:ext cx="4206875" cy="3233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椭圆 11">
            <a:extLst>
              <a:ext uri="{FF2B5EF4-FFF2-40B4-BE49-F238E27FC236}">
                <a16:creationId xmlns:a16="http://schemas.microsoft.com/office/drawing/2014/main" id="{33875A8B-6A6D-482B-858B-A70BFABC49B2}"/>
              </a:ext>
            </a:extLst>
          </p:cNvPr>
          <p:cNvSpPr/>
          <p:nvPr/>
        </p:nvSpPr>
        <p:spPr>
          <a:xfrm>
            <a:off x="7717537" y="446629"/>
            <a:ext cx="2736000" cy="27360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B20494-CD1E-457C-B2CD-90C5444E8525}"/>
              </a:ext>
            </a:extLst>
          </p:cNvPr>
          <p:cNvSpPr txBox="1"/>
          <p:nvPr/>
        </p:nvSpPr>
        <p:spPr>
          <a:xfrm>
            <a:off x="8543925" y="1212230"/>
            <a:ext cx="1247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77BBC3"/>
                </a:solidFill>
              </a:rPr>
              <a:t>45</a:t>
            </a:r>
            <a:r>
              <a:rPr lang="en-US" altLang="zh-CN" sz="2400" dirty="0">
                <a:solidFill>
                  <a:srgbClr val="AADFE5"/>
                </a:solidFill>
              </a:rPr>
              <a:t>%</a:t>
            </a:r>
            <a:endParaRPr lang="en-US" altLang="zh-CN" sz="4800" dirty="0">
              <a:solidFill>
                <a:srgbClr val="AADFE5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  <a:t>CHINA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7" name="图表 16">
            <a:extLst>
              <a:ext uri="{FF2B5EF4-FFF2-40B4-BE49-F238E27FC236}">
                <a16:creationId xmlns:a16="http://schemas.microsoft.com/office/drawing/2014/main" id="{D14E2CDC-1257-4D76-A75C-0FD711B28A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8751416"/>
              </p:ext>
            </p:extLst>
          </p:nvPr>
        </p:nvGraphicFramePr>
        <p:xfrm>
          <a:off x="4317999" y="3283570"/>
          <a:ext cx="4559300" cy="3357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不完整圆 18">
            <a:extLst>
              <a:ext uri="{FF2B5EF4-FFF2-40B4-BE49-F238E27FC236}">
                <a16:creationId xmlns:a16="http://schemas.microsoft.com/office/drawing/2014/main" id="{8D4A9CC6-0921-4316-A333-5818993D94C7}"/>
              </a:ext>
            </a:extLst>
          </p:cNvPr>
          <p:cNvSpPr/>
          <p:nvPr/>
        </p:nvSpPr>
        <p:spPr>
          <a:xfrm>
            <a:off x="4253755" y="2622524"/>
            <a:ext cx="4680000" cy="4680000"/>
          </a:xfrm>
          <a:prstGeom prst="pie">
            <a:avLst>
              <a:gd name="adj1" fmla="val 12213403"/>
              <a:gd name="adj2" fmla="val 143301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642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</TotalTime>
  <Words>56</Words>
  <Application>Microsoft Office PowerPoint</Application>
  <PresentationFormat>宽屏</PresentationFormat>
  <Paragraphs>16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华文细黑</vt:lpstr>
      <vt:lpstr>华文中宋</vt:lpstr>
      <vt:lpstr>Arial</vt:lpstr>
      <vt:lpstr>Berlin Sans FB</vt:lpstr>
      <vt:lpstr>Office 主题​​</vt:lpstr>
      <vt:lpstr>2.商业图表的应用于美化之道</vt:lpstr>
      <vt:lpstr>如何美化图表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2.商业报表的应用于美化之道</dc:title>
  <dc:creator>李 伟超</dc:creator>
  <cp:lastModifiedBy>李 伟超</cp:lastModifiedBy>
  <cp:revision>308</cp:revision>
  <dcterms:created xsi:type="dcterms:W3CDTF">2020-02-23T05:49:47Z</dcterms:created>
  <dcterms:modified xsi:type="dcterms:W3CDTF">2020-02-24T05:33:25Z</dcterms:modified>
</cp:coreProperties>
</file>