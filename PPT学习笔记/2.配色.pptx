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302" r:id="rId4"/>
    <p:sldId id="303" r:id="rId5"/>
    <p:sldId id="28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87DA21-3DEF-4AFF-94FF-10CE23819A77}">
          <p14:sldIdLst>
            <p14:sldId id="256"/>
            <p14:sldId id="257"/>
            <p14:sldId id="302"/>
            <p14:sldId id="303"/>
            <p14:sldId id="287"/>
          </p14:sldIdLst>
        </p14:section>
        <p14:section name="备用素材" id="{F4B2AD02-CDAC-46F2-8521-B90B3BF40D7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4EF"/>
    <a:srgbClr val="EFC1BF"/>
    <a:srgbClr val="F6CB60"/>
    <a:srgbClr val="64BEF6"/>
    <a:srgbClr val="649CF6"/>
    <a:srgbClr val="F66479"/>
    <a:srgbClr val="56B2D2"/>
    <a:srgbClr val="D25676"/>
    <a:srgbClr val="A4C7F6"/>
    <a:srgbClr val="F6A8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2111" autoAdjust="0"/>
  </p:normalViewPr>
  <p:slideViewPr>
    <p:cSldViewPr snapToGrid="0">
      <p:cViewPr varScale="1">
        <p:scale>
          <a:sx n="151" d="100"/>
          <a:sy n="151" d="100"/>
        </p:scale>
        <p:origin x="32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631F1-6289-456F-9F56-ADEA57E295F2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68A44-33A9-475D-B022-782466171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74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68A44-33A9-475D-B022-782466171F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59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C9AC1-53B6-48CB-9059-84B11B623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F1FD09-9EAF-47CC-982B-2B0B3200E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43B067-F761-48A7-A77C-44A3B6D2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643C0A-B5FA-4AFD-8D0F-C88787A65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33EA9-AC72-47B0-8833-57C005CF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15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997CC-C602-496B-80C7-836A47D6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250C07-A698-46A9-B055-1E35DF60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4CE238-6B8D-418B-A021-3243F189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39601-86A1-48C3-A194-A956F135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BFC39-0B95-41DF-A934-A203FB98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18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63CF1-3483-4866-A806-F1654683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F8CDE2-E845-43D0-A9F1-4E91BC998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8EC7C9-75C9-48BB-A9A5-95E44580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B3C11C-380C-4DC3-8938-C215D5B1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5BFA57-4A08-4F9E-8326-E63418B0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1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2688D-7695-4AE1-AA08-75933E45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FFA884-10A0-4C51-BBBC-E521E5B04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3B4D94-0558-475A-9E7C-7ABE84CDD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26AD81-1ED2-44EC-B409-CEDB4DC8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1530F3-1955-428A-AF88-E75A8E25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4BAB3C-F0E7-4CFD-A89D-D9C30796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96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922A2-1D9F-4CEB-ADA7-04DCDD06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E38E6B-98C4-48C4-A75F-8A3ED45AE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E9BB58-313B-4DE4-B05E-1A86DA4F7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BB2054-093D-4859-81CE-0B98B436B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1F1FCC-749F-42BC-8865-90B021C3D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B9344F-7D76-42AA-BE28-5F95AAD1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FCEE49-2C9F-4E16-A719-CA9FB1CC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2D420D-F4CC-4F04-80AF-5C1E0C5E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46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DB052-34B5-4054-BDC0-5C54D821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F3D835-1F26-44C4-8897-7A87BC34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6B3198-E4A4-44DA-B0C2-91270976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4A2A1E-1C45-45B6-9DC3-B5621F66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7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6DE3B7-11DB-466A-95A7-0C44363E9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83C513-789E-4D31-8015-0B32F446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B5475F-68CC-490F-BCEB-3879850B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02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6EA7B-24B8-4A39-93B7-B507C1493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ACBF7-64CD-4CC5-B8EB-AFD27AD2E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D18CB9-3C28-4EE7-AC79-423D34C0C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B8E39-BA7F-4943-8958-CA121368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C0A4A2-83B4-400E-BE3F-542305F7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2E97B5-FC2D-4FC8-8CEF-8D5A7D2F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37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3026F-ADD9-469D-96F2-BAFF4EF5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569161-111F-41B1-B218-5D7991C43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95AAD-438F-49C8-8846-AC274DDFA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3CC5E-C74F-4CC5-9A0B-99182B2A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9E8C1F-26EB-44D8-BEC6-E4C5E488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25CE40-6ACD-4E55-B8EE-A722315E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7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5DA79-C423-4FBE-A133-E9B3F930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29B9BA-ED4E-4000-BA8F-518884F71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EFCDC8-FB43-407A-A401-A00BF329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4EF490-BE06-4DA6-8C7C-E61269DA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C2A1D4-9EEE-42C0-AD76-7690873C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70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BF2971-52FE-4E5B-A7FA-B7C350AF2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58B27A-589A-44A3-9061-8ECD4AEDC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1B5F8-7B76-4184-991D-CCA9438D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42D25-C88D-47ED-9C6C-9EE0B588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886CE-5F08-470F-B0A1-39235CEB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40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1F4D0B-E828-4E46-9AD6-95339C32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D86300-F45B-47EC-80B1-CAEB673EE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718896-55D4-49BD-92BF-99BE11D8C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E73CFA-4AD0-46E8-BF7F-ED754A6C1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D0D08-F85F-402D-A66C-66F001BDC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73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ise.net/" TargetMode="External"/><Relationship Id="rId2" Type="http://schemas.openxmlformats.org/officeDocument/2006/relationships/hyperlink" Target="https://dribbb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9083C-DB04-4FC8-9604-230834FA2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商业报表的应用于美化之道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B41956-4316-4CE4-BC19-3C55159A40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513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9083C-DB04-4FC8-9604-230834FA2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小白也能轻松掌握的配色方法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B41956-4316-4CE4-BC19-3C55159A40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偷色大师的养成计划</a:t>
            </a:r>
          </a:p>
        </p:txBody>
      </p:sp>
    </p:spTree>
    <p:extLst>
      <p:ext uri="{BB962C8B-B14F-4D97-AF65-F5344CB8AC3E}">
        <p14:creationId xmlns:p14="http://schemas.microsoft.com/office/powerpoint/2010/main" val="110098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AB93-41FF-4A63-A3E7-A9B4F102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为什么你的配色那么辣眼睛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797261-8DF9-43D0-A2F5-3CE0F9EB0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配色太多</a:t>
            </a:r>
            <a:endParaRPr lang="en-US" altLang="zh-CN" dirty="0"/>
          </a:p>
          <a:p>
            <a:pPr lvl="1"/>
            <a:r>
              <a:rPr lang="zh-CN" altLang="en-US" dirty="0"/>
              <a:t>优秀的</a:t>
            </a:r>
            <a:r>
              <a:rPr lang="en-US" altLang="zh-CN" dirty="0"/>
              <a:t>PPT</a:t>
            </a:r>
            <a:r>
              <a:rPr lang="zh-CN" altLang="en-US" dirty="0"/>
              <a:t>里，</a:t>
            </a:r>
            <a:r>
              <a:rPr lang="en-US" altLang="zh-CN" dirty="0"/>
              <a:t>3</a:t>
            </a:r>
            <a:r>
              <a:rPr lang="zh-CN" altLang="en-US" dirty="0"/>
              <a:t>中颜色就足够了：一个主色，两个辅色</a:t>
            </a:r>
            <a:endParaRPr lang="en-US" altLang="zh-CN" dirty="0"/>
          </a:p>
          <a:p>
            <a:r>
              <a:rPr lang="zh-CN" altLang="en-US" dirty="0"/>
              <a:t>拍脑袋配色</a:t>
            </a:r>
            <a:endParaRPr lang="en-US" altLang="zh-CN" dirty="0"/>
          </a:p>
          <a:p>
            <a:r>
              <a:rPr lang="zh-CN" altLang="en-US" dirty="0"/>
              <a:t>颜色搭配没有重点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852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D3440-D5DC-4038-8EA6-BE2B9D96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我们该如何配色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78970C-6946-4162-900D-3BFDA0288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配色理论很复杂</a:t>
            </a:r>
            <a:endParaRPr lang="en-US" altLang="zh-CN" sz="1800" dirty="0"/>
          </a:p>
          <a:p>
            <a:r>
              <a:rPr lang="zh-CN" altLang="en-US" sz="1800" dirty="0"/>
              <a:t>偷色大师：利用取色器</a:t>
            </a:r>
            <a:endParaRPr lang="en-US" altLang="zh-CN" sz="1800" dirty="0"/>
          </a:p>
          <a:p>
            <a:r>
              <a:rPr lang="zh-CN" altLang="en-US" sz="1800" dirty="0"/>
              <a:t>设计站点</a:t>
            </a:r>
            <a:endParaRPr lang="en-US" altLang="zh-CN" sz="1800" dirty="0"/>
          </a:p>
          <a:p>
            <a:pPr lvl="1"/>
            <a:r>
              <a:rPr lang="en-US" altLang="zh-CN" sz="1800" dirty="0">
                <a:hlinkClick r:id="rId2"/>
              </a:rPr>
              <a:t>https://dribbble.com</a:t>
            </a:r>
            <a:endParaRPr lang="en-US" altLang="zh-CN" sz="1800" dirty="0"/>
          </a:p>
          <a:p>
            <a:pPr lvl="1"/>
            <a:r>
              <a:rPr lang="zh-CN" altLang="en-US" sz="1800" dirty="0"/>
              <a:t>配色网 </a:t>
            </a:r>
            <a:r>
              <a:rPr lang="en-US" altLang="zh-CN" sz="1800" dirty="0">
                <a:hlinkClick r:id="rId3"/>
              </a:rPr>
              <a:t>https://www.peise.net</a:t>
            </a:r>
            <a:endParaRPr lang="en-US" altLang="zh-CN" sz="1800" dirty="0"/>
          </a:p>
          <a:p>
            <a:r>
              <a:rPr lang="zh-CN" altLang="en-US" sz="1800" dirty="0"/>
              <a:t>从图片中取色</a:t>
            </a:r>
            <a:endParaRPr lang="en-US" altLang="zh-CN" sz="1800" dirty="0"/>
          </a:p>
          <a:p>
            <a:r>
              <a:rPr lang="zh-CN" altLang="en-US" sz="1800" dirty="0"/>
              <a:t>企业对外宣传渠道取色：</a:t>
            </a:r>
            <a:r>
              <a:rPr lang="en-US" altLang="zh-CN" sz="1800" dirty="0"/>
              <a:t>LOGO</a:t>
            </a:r>
            <a:r>
              <a:rPr lang="zh-CN" altLang="en-US" sz="1800" dirty="0"/>
              <a:t>、官网</a:t>
            </a:r>
            <a:endParaRPr lang="en-US" altLang="zh-CN" sz="1800" dirty="0"/>
          </a:p>
          <a:p>
            <a:r>
              <a:rPr lang="zh-CN" altLang="en-US" sz="1800" dirty="0"/>
              <a:t>通用配色：主题色，背景颜色，文字颜色</a:t>
            </a:r>
            <a:endParaRPr lang="en-US" altLang="zh-CN" sz="1800" dirty="0"/>
          </a:p>
          <a:p>
            <a:r>
              <a:rPr lang="zh-CN" altLang="en-US" sz="1800" dirty="0"/>
              <a:t>色调变换：色调值</a:t>
            </a:r>
            <a:endParaRPr lang="en-US" altLang="zh-CN" sz="1800" dirty="0"/>
          </a:p>
          <a:p>
            <a:endParaRPr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AA4B62-3F62-40A3-A330-E4CBA9041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5071361"/>
            <a:ext cx="5207000" cy="124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6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D329B11-FA37-42FC-898E-DF57014266F9}"/>
              </a:ext>
            </a:extLst>
          </p:cNvPr>
          <p:cNvSpPr/>
          <p:nvPr/>
        </p:nvSpPr>
        <p:spPr>
          <a:xfrm>
            <a:off x="1" y="0"/>
            <a:ext cx="78105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色调变换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6EBA14AC-EB24-4803-848E-699F700B2B6A}"/>
              </a:ext>
            </a:extLst>
          </p:cNvPr>
          <p:cNvGrpSpPr/>
          <p:nvPr/>
        </p:nvGrpSpPr>
        <p:grpSpPr>
          <a:xfrm>
            <a:off x="2368550" y="2460947"/>
            <a:ext cx="6702052" cy="1149350"/>
            <a:chOff x="2368550" y="2460947"/>
            <a:chExt cx="6702052" cy="114935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9B91113-9F76-4722-A7B0-4DFED959A543}"/>
                </a:ext>
              </a:extLst>
            </p:cNvPr>
            <p:cNvSpPr/>
            <p:nvPr/>
          </p:nvSpPr>
          <p:spPr>
            <a:xfrm>
              <a:off x="3388102" y="2574926"/>
              <a:ext cx="540000" cy="540000"/>
            </a:xfrm>
            <a:prstGeom prst="ellipse">
              <a:avLst/>
            </a:prstGeom>
            <a:solidFill>
              <a:srgbClr val="F6A8A4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548A299-4E12-4059-B69F-A68D47D1B9E9}"/>
                </a:ext>
              </a:extLst>
            </p:cNvPr>
            <p:cNvSpPr/>
            <p:nvPr/>
          </p:nvSpPr>
          <p:spPr>
            <a:xfrm>
              <a:off x="4324602" y="2574926"/>
              <a:ext cx="540000" cy="540000"/>
            </a:xfrm>
            <a:prstGeom prst="ellipse">
              <a:avLst/>
            </a:prstGeom>
            <a:solidFill>
              <a:srgbClr val="D25676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39CF1D7-D4A3-4248-834A-DC93488C9C26}"/>
                </a:ext>
              </a:extLst>
            </p:cNvPr>
            <p:cNvSpPr/>
            <p:nvPr/>
          </p:nvSpPr>
          <p:spPr>
            <a:xfrm>
              <a:off x="5261102" y="2574926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4FD7EA2-5F71-49AD-BDE2-B2BD3AFEA66E}"/>
                </a:ext>
              </a:extLst>
            </p:cNvPr>
            <p:cNvSpPr/>
            <p:nvPr/>
          </p:nvSpPr>
          <p:spPr>
            <a:xfrm>
              <a:off x="6197602" y="2574926"/>
              <a:ext cx="540000" cy="540000"/>
            </a:xfrm>
            <a:prstGeom prst="ellipse">
              <a:avLst/>
            </a:prstGeom>
            <a:solidFill>
              <a:srgbClr val="F66479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5AA41DE-AE67-46B4-B551-1C068906BE36}"/>
                </a:ext>
              </a:extLst>
            </p:cNvPr>
            <p:cNvSpPr/>
            <p:nvPr/>
          </p:nvSpPr>
          <p:spPr>
            <a:xfrm>
              <a:off x="7134102" y="2574926"/>
              <a:ext cx="540000" cy="540000"/>
            </a:xfrm>
            <a:prstGeom prst="ellipse">
              <a:avLst/>
            </a:prstGeom>
            <a:solidFill>
              <a:srgbClr val="F6CB6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C6DC9C5-1ED3-45A4-81AA-01161B0F402E}"/>
                </a:ext>
              </a:extLst>
            </p:cNvPr>
            <p:cNvSpPr/>
            <p:nvPr/>
          </p:nvSpPr>
          <p:spPr>
            <a:xfrm>
              <a:off x="8070602" y="2574926"/>
              <a:ext cx="540000" cy="540000"/>
            </a:xfrm>
            <a:prstGeom prst="ellipse">
              <a:avLst/>
            </a:prstGeom>
            <a:solidFill>
              <a:srgbClr val="EFC1BF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C9B6B8D-C070-45C9-ABF8-AA20677CE583}"/>
                </a:ext>
              </a:extLst>
            </p:cNvPr>
            <p:cNvSpPr/>
            <p:nvPr/>
          </p:nvSpPr>
          <p:spPr>
            <a:xfrm>
              <a:off x="2368550" y="2460947"/>
              <a:ext cx="6702052" cy="114935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307B779-C431-45BA-8333-1DBD2670C203}"/>
                </a:ext>
              </a:extLst>
            </p:cNvPr>
            <p:cNvSpPr/>
            <p:nvPr/>
          </p:nvSpPr>
          <p:spPr>
            <a:xfrm>
              <a:off x="2368550" y="2460947"/>
              <a:ext cx="623049" cy="11493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红色系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92D287B-0234-4970-850D-F49AD2BE7EA4}"/>
                </a:ext>
              </a:extLst>
            </p:cNvPr>
            <p:cNvSpPr txBox="1"/>
            <p:nvPr/>
          </p:nvSpPr>
          <p:spPr>
            <a:xfrm>
              <a:off x="3385827" y="3167734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2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CA6BF45-35A2-4914-B6D0-A8686F61BBA7}"/>
                </a:ext>
              </a:extLst>
            </p:cNvPr>
            <p:cNvSpPr txBox="1"/>
            <p:nvPr/>
          </p:nvSpPr>
          <p:spPr>
            <a:xfrm>
              <a:off x="4324603" y="3167734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244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E1287005-9B56-452D-BDEF-092DF0159348}"/>
                </a:ext>
              </a:extLst>
            </p:cNvPr>
            <p:cNvSpPr txBox="1"/>
            <p:nvPr/>
          </p:nvSpPr>
          <p:spPr>
            <a:xfrm>
              <a:off x="5261103" y="3167734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170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17479C9-0E69-419C-B9E8-DE7B1168EC30}"/>
                </a:ext>
              </a:extLst>
            </p:cNvPr>
            <p:cNvSpPr txBox="1"/>
            <p:nvPr/>
          </p:nvSpPr>
          <p:spPr>
            <a:xfrm>
              <a:off x="6197603" y="3167734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249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1CB54E7-545B-4488-81E2-1F9E013934E8}"/>
                </a:ext>
              </a:extLst>
            </p:cNvPr>
            <p:cNvSpPr txBox="1"/>
            <p:nvPr/>
          </p:nvSpPr>
          <p:spPr>
            <a:xfrm>
              <a:off x="7134101" y="316773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30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6FC4911-7131-4D3F-81E9-FED550063EA5}"/>
                </a:ext>
              </a:extLst>
            </p:cNvPr>
            <p:cNvSpPr txBox="1"/>
            <p:nvPr/>
          </p:nvSpPr>
          <p:spPr>
            <a:xfrm>
              <a:off x="8068328" y="316773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2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54" name="箭头: 下 53">
            <a:extLst>
              <a:ext uri="{FF2B5EF4-FFF2-40B4-BE49-F238E27FC236}">
                <a16:creationId xmlns:a16="http://schemas.microsoft.com/office/drawing/2014/main" id="{3BA9BCFF-EC12-47D7-BA33-FE380F58E9E5}"/>
              </a:ext>
            </a:extLst>
          </p:cNvPr>
          <p:cNvSpPr/>
          <p:nvPr/>
        </p:nvSpPr>
        <p:spPr>
          <a:xfrm>
            <a:off x="5432928" y="3724276"/>
            <a:ext cx="736348" cy="9397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变成蓝色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6666E3A-74BB-4E66-82EA-0ED672E1966B}"/>
              </a:ext>
            </a:extLst>
          </p:cNvPr>
          <p:cNvSpPr txBox="1"/>
          <p:nvPr/>
        </p:nvSpPr>
        <p:spPr>
          <a:xfrm>
            <a:off x="4388102" y="3699519"/>
            <a:ext cx="10448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spc="130" dirty="0">
                <a:solidFill>
                  <a:srgbClr val="FF0000"/>
                </a:solidFill>
              </a:rPr>
              <a:t>红色</a:t>
            </a:r>
            <a:r>
              <a:rPr lang="zh-CN" altLang="en-US" sz="1000" spc="130" dirty="0"/>
              <a:t>是</a:t>
            </a:r>
            <a:r>
              <a:rPr lang="en-US" altLang="zh-CN" sz="1000" spc="130" dirty="0"/>
              <a:t>0</a:t>
            </a:r>
          </a:p>
          <a:p>
            <a:r>
              <a:rPr lang="zh-CN" altLang="en-US" sz="1000" b="1" spc="130" dirty="0">
                <a:solidFill>
                  <a:srgbClr val="0070C0"/>
                </a:solidFill>
              </a:rPr>
              <a:t>蓝色</a:t>
            </a:r>
            <a:r>
              <a:rPr lang="zh-CN" altLang="en-US" sz="1000" spc="130" dirty="0"/>
              <a:t>是</a:t>
            </a:r>
            <a:r>
              <a:rPr lang="en-US" altLang="zh-CN" sz="1000" spc="130" dirty="0"/>
              <a:t>150</a:t>
            </a:r>
            <a:endParaRPr lang="zh-CN" altLang="en-US" sz="1000" spc="130" dirty="0"/>
          </a:p>
          <a:p>
            <a:r>
              <a:rPr lang="zh-CN" altLang="en-US" sz="1000" spc="130" dirty="0"/>
              <a:t>色值差是</a:t>
            </a:r>
            <a:r>
              <a:rPr lang="en-US" altLang="zh-CN" sz="1000" spc="130" dirty="0"/>
              <a:t>150</a:t>
            </a:r>
            <a:endParaRPr lang="zh-CN" altLang="en-US" sz="1000" spc="130" dirty="0"/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40DEA718-014D-4346-8993-F46AF4570925}"/>
              </a:ext>
            </a:extLst>
          </p:cNvPr>
          <p:cNvGrpSpPr/>
          <p:nvPr/>
        </p:nvGrpSpPr>
        <p:grpSpPr>
          <a:xfrm>
            <a:off x="2368550" y="293224"/>
            <a:ext cx="8496300" cy="1548276"/>
            <a:chOff x="2368550" y="293224"/>
            <a:chExt cx="8496300" cy="1548276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0D8DCE0-E559-4A72-9BCD-C21DC40BA208}"/>
                </a:ext>
              </a:extLst>
            </p:cNvPr>
            <p:cNvSpPr/>
            <p:nvPr/>
          </p:nvSpPr>
          <p:spPr>
            <a:xfrm>
              <a:off x="2515102" y="795312"/>
              <a:ext cx="540000" cy="540000"/>
            </a:xfrm>
            <a:prstGeom prst="ellipse">
              <a:avLst/>
            </a:prstGeom>
            <a:solidFill>
              <a:srgbClr val="F600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CF63070-A001-4146-98A6-3CCD473F4838}"/>
                </a:ext>
              </a:extLst>
            </p:cNvPr>
            <p:cNvSpPr/>
            <p:nvPr/>
          </p:nvSpPr>
          <p:spPr>
            <a:xfrm>
              <a:off x="3451602" y="795312"/>
              <a:ext cx="540000" cy="540000"/>
            </a:xfrm>
            <a:prstGeom prst="ellipse">
              <a:avLst/>
            </a:prstGeom>
            <a:solidFill>
              <a:srgbClr val="F7930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A74A129-70FD-4C94-B825-9BC9AF32EF04}"/>
                </a:ext>
              </a:extLst>
            </p:cNvPr>
            <p:cNvSpPr/>
            <p:nvPr/>
          </p:nvSpPr>
          <p:spPr>
            <a:xfrm>
              <a:off x="4388102" y="795312"/>
              <a:ext cx="540000" cy="540000"/>
            </a:xfrm>
            <a:prstGeom prst="ellipse">
              <a:avLst/>
            </a:prstGeom>
            <a:solidFill>
              <a:srgbClr val="F0E502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1A772C6-D853-4E2F-8EE7-A910D40F86AD}"/>
                </a:ext>
              </a:extLst>
            </p:cNvPr>
            <p:cNvSpPr/>
            <p:nvPr/>
          </p:nvSpPr>
          <p:spPr>
            <a:xfrm>
              <a:off x="5324602" y="795312"/>
              <a:ext cx="540000" cy="540000"/>
            </a:xfrm>
            <a:prstGeom prst="ellipse">
              <a:avLst/>
            </a:prstGeom>
            <a:solidFill>
              <a:srgbClr val="4ED404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A81077D-C87A-41DE-9EB6-E5C19C57FAC0}"/>
                </a:ext>
              </a:extLst>
            </p:cNvPr>
            <p:cNvSpPr/>
            <p:nvPr/>
          </p:nvSpPr>
          <p:spPr>
            <a:xfrm>
              <a:off x="6261102" y="795312"/>
              <a:ext cx="540000" cy="540000"/>
            </a:xfrm>
            <a:prstGeom prst="ellipse">
              <a:avLst/>
            </a:prstGeom>
            <a:solidFill>
              <a:srgbClr val="00E5F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24CFD84-5A48-486E-A428-F8D48B2A4440}"/>
                </a:ext>
              </a:extLst>
            </p:cNvPr>
            <p:cNvSpPr/>
            <p:nvPr/>
          </p:nvSpPr>
          <p:spPr>
            <a:xfrm>
              <a:off x="7197602" y="795312"/>
              <a:ext cx="540000" cy="540000"/>
            </a:xfrm>
            <a:prstGeom prst="ellipse">
              <a:avLst/>
            </a:prstGeom>
            <a:solidFill>
              <a:srgbClr val="0074F4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2CFBD90-CCD0-441B-B959-3F8FBD3786DE}"/>
                </a:ext>
              </a:extLst>
            </p:cNvPr>
            <p:cNvSpPr/>
            <p:nvPr/>
          </p:nvSpPr>
          <p:spPr>
            <a:xfrm>
              <a:off x="8134102" y="795312"/>
              <a:ext cx="540000" cy="540000"/>
            </a:xfrm>
            <a:prstGeom prst="ellipse">
              <a:avLst/>
            </a:prstGeom>
            <a:solidFill>
              <a:srgbClr val="AE1EEB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DB7980DE-49BB-45CA-91CE-39BE3492C0D8}"/>
                </a:ext>
              </a:extLst>
            </p:cNvPr>
            <p:cNvSpPr/>
            <p:nvPr/>
          </p:nvSpPr>
          <p:spPr>
            <a:xfrm>
              <a:off x="9070602" y="795312"/>
              <a:ext cx="540000" cy="540000"/>
            </a:xfrm>
            <a:prstGeom prst="ellipse">
              <a:avLst/>
            </a:prstGeom>
            <a:solidFill>
              <a:srgbClr val="F61C6A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E48057C-03C9-4444-B7FA-0D52D4E8D97A}"/>
                </a:ext>
              </a:extLst>
            </p:cNvPr>
            <p:cNvSpPr txBox="1"/>
            <p:nvPr/>
          </p:nvSpPr>
          <p:spPr>
            <a:xfrm>
              <a:off x="2515100" y="136862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129611C-4A27-4ADC-A0BD-93299A2E8A09}"/>
                </a:ext>
              </a:extLst>
            </p:cNvPr>
            <p:cNvSpPr txBox="1"/>
            <p:nvPr/>
          </p:nvSpPr>
          <p:spPr>
            <a:xfrm>
              <a:off x="3449328" y="136862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25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42CE629-41EE-4452-AEF9-310730F2D99B}"/>
                </a:ext>
              </a:extLst>
            </p:cNvPr>
            <p:cNvSpPr txBox="1"/>
            <p:nvPr/>
          </p:nvSpPr>
          <p:spPr>
            <a:xfrm>
              <a:off x="4388103" y="136862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40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65B01DA-4A53-4920-86BE-5D36074DA323}"/>
                </a:ext>
              </a:extLst>
            </p:cNvPr>
            <p:cNvSpPr txBox="1"/>
            <p:nvPr/>
          </p:nvSpPr>
          <p:spPr>
            <a:xfrm>
              <a:off x="5324603" y="136862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70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7350D41-2404-4E4E-859F-00C2B80ECA40}"/>
                </a:ext>
              </a:extLst>
            </p:cNvPr>
            <p:cNvSpPr txBox="1"/>
            <p:nvPr/>
          </p:nvSpPr>
          <p:spPr>
            <a:xfrm>
              <a:off x="6261103" y="136862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130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E7609ED-D8A4-467C-AD5A-EB2AA203538C}"/>
                </a:ext>
              </a:extLst>
            </p:cNvPr>
            <p:cNvSpPr txBox="1"/>
            <p:nvPr/>
          </p:nvSpPr>
          <p:spPr>
            <a:xfrm>
              <a:off x="7197602" y="136862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150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36A3814-3AAB-4331-94FD-F7BB19CF1AC4}"/>
                </a:ext>
              </a:extLst>
            </p:cNvPr>
            <p:cNvSpPr txBox="1"/>
            <p:nvPr/>
          </p:nvSpPr>
          <p:spPr>
            <a:xfrm>
              <a:off x="8134103" y="1365572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200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15066D0-874D-44EE-A76D-711482C01883}"/>
                </a:ext>
              </a:extLst>
            </p:cNvPr>
            <p:cNvSpPr txBox="1"/>
            <p:nvPr/>
          </p:nvSpPr>
          <p:spPr>
            <a:xfrm>
              <a:off x="9070603" y="1365572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240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5DCD7A2-178A-4920-BE70-3886F80A0B0F}"/>
                </a:ext>
              </a:extLst>
            </p:cNvPr>
            <p:cNvSpPr/>
            <p:nvPr/>
          </p:nvSpPr>
          <p:spPr>
            <a:xfrm>
              <a:off x="2368550" y="419100"/>
              <a:ext cx="8496300" cy="142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3C4BD16-E768-44FA-BA55-1E904C8173DA}"/>
                </a:ext>
              </a:extLst>
            </p:cNvPr>
            <p:cNvSpPr/>
            <p:nvPr/>
          </p:nvSpPr>
          <p:spPr>
            <a:xfrm>
              <a:off x="2624077" y="293224"/>
              <a:ext cx="781050" cy="2517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spc="4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色调值</a:t>
              </a: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9DEFC9F2-AEB9-4165-AB07-CF23262BEE6B}"/>
                </a:ext>
              </a:extLst>
            </p:cNvPr>
            <p:cNvSpPr/>
            <p:nvPr/>
          </p:nvSpPr>
          <p:spPr>
            <a:xfrm>
              <a:off x="9967726" y="795312"/>
              <a:ext cx="540000" cy="540000"/>
            </a:xfrm>
            <a:prstGeom prst="ellipse">
              <a:avLst/>
            </a:prstGeom>
            <a:solidFill>
              <a:srgbClr val="F61C1C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38CE3494-2AED-4D01-B498-8F40F0630CF7}"/>
                </a:ext>
              </a:extLst>
            </p:cNvPr>
            <p:cNvSpPr txBox="1"/>
            <p:nvPr/>
          </p:nvSpPr>
          <p:spPr>
            <a:xfrm>
              <a:off x="9967727" y="1365572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255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B1F06FDA-4F52-4DBD-A583-39821B7EDE61}"/>
              </a:ext>
            </a:extLst>
          </p:cNvPr>
          <p:cNvGrpSpPr/>
          <p:nvPr/>
        </p:nvGrpSpPr>
        <p:grpSpPr>
          <a:xfrm>
            <a:off x="2368550" y="4753297"/>
            <a:ext cx="6702052" cy="1149350"/>
            <a:chOff x="2368550" y="2460947"/>
            <a:chExt cx="6702052" cy="1149350"/>
          </a:xfrm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59BD2E7D-C467-455F-85B2-CB52E51FA07A}"/>
                </a:ext>
              </a:extLst>
            </p:cNvPr>
            <p:cNvSpPr/>
            <p:nvPr/>
          </p:nvSpPr>
          <p:spPr>
            <a:xfrm>
              <a:off x="3388102" y="2574926"/>
              <a:ext cx="540000" cy="540000"/>
            </a:xfrm>
            <a:prstGeom prst="ellipse">
              <a:avLst/>
            </a:prstGeom>
            <a:solidFill>
              <a:srgbClr val="A4C7F6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997DAE12-F29C-439D-A61B-0DA308F86978}"/>
                </a:ext>
              </a:extLst>
            </p:cNvPr>
            <p:cNvSpPr/>
            <p:nvPr/>
          </p:nvSpPr>
          <p:spPr>
            <a:xfrm>
              <a:off x="4324602" y="2574926"/>
              <a:ext cx="540000" cy="540000"/>
            </a:xfrm>
            <a:prstGeom prst="ellipse">
              <a:avLst/>
            </a:prstGeom>
            <a:solidFill>
              <a:srgbClr val="56B2D2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004D580F-2F64-47F7-BF81-EAF278A26DB5}"/>
                </a:ext>
              </a:extLst>
            </p:cNvPr>
            <p:cNvSpPr/>
            <p:nvPr/>
          </p:nvSpPr>
          <p:spPr>
            <a:xfrm>
              <a:off x="5261102" y="2574926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353CD798-EE57-475C-9D58-1631002D1E72}"/>
                </a:ext>
              </a:extLst>
            </p:cNvPr>
            <p:cNvSpPr/>
            <p:nvPr/>
          </p:nvSpPr>
          <p:spPr>
            <a:xfrm>
              <a:off x="6197602" y="2574926"/>
              <a:ext cx="540000" cy="540000"/>
            </a:xfrm>
            <a:prstGeom prst="ellipse">
              <a:avLst/>
            </a:prstGeom>
            <a:solidFill>
              <a:srgbClr val="64BEF6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2A06191B-AAA2-42EE-8F68-8AEAFEDC8D4A}"/>
                </a:ext>
              </a:extLst>
            </p:cNvPr>
            <p:cNvSpPr/>
            <p:nvPr/>
          </p:nvSpPr>
          <p:spPr>
            <a:xfrm>
              <a:off x="7134102" y="2574926"/>
              <a:ext cx="540000" cy="540000"/>
            </a:xfrm>
            <a:prstGeom prst="ellipse">
              <a:avLst/>
            </a:prstGeom>
            <a:solidFill>
              <a:srgbClr val="F6CF6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435099B4-6C67-48BB-AB77-6D0A303DD339}"/>
                </a:ext>
              </a:extLst>
            </p:cNvPr>
            <p:cNvSpPr/>
            <p:nvPr/>
          </p:nvSpPr>
          <p:spPr>
            <a:xfrm>
              <a:off x="8070602" y="2574926"/>
              <a:ext cx="540000" cy="540000"/>
            </a:xfrm>
            <a:prstGeom prst="ellipse">
              <a:avLst/>
            </a:prstGeom>
            <a:solidFill>
              <a:srgbClr val="BFD4EF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6E668814-857C-4827-B895-B845087F84F3}"/>
                </a:ext>
              </a:extLst>
            </p:cNvPr>
            <p:cNvSpPr/>
            <p:nvPr/>
          </p:nvSpPr>
          <p:spPr>
            <a:xfrm>
              <a:off x="2368550" y="2460947"/>
              <a:ext cx="6702052" cy="114935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A9F76C66-E0F6-40C8-A2AB-660230CB80FE}"/>
                </a:ext>
              </a:extLst>
            </p:cNvPr>
            <p:cNvSpPr/>
            <p:nvPr/>
          </p:nvSpPr>
          <p:spPr>
            <a:xfrm>
              <a:off x="2368550" y="2460947"/>
              <a:ext cx="623049" cy="11493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蓝色系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861F0304-B2C3-4515-83D6-01BF306CCC72}"/>
                </a:ext>
              </a:extLst>
            </p:cNvPr>
            <p:cNvSpPr txBox="1"/>
            <p:nvPr/>
          </p:nvSpPr>
          <p:spPr>
            <a:xfrm>
              <a:off x="3385827" y="3167734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152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AFEEA09A-3F61-4E19-B875-FB13002129CF}"/>
                </a:ext>
              </a:extLst>
            </p:cNvPr>
            <p:cNvSpPr txBox="1"/>
            <p:nvPr/>
          </p:nvSpPr>
          <p:spPr>
            <a:xfrm>
              <a:off x="4324603" y="3167734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139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AFDF8253-EF1B-41A3-8B35-169C94839E8C}"/>
                </a:ext>
              </a:extLst>
            </p:cNvPr>
            <p:cNvSpPr txBox="1"/>
            <p:nvPr/>
          </p:nvSpPr>
          <p:spPr>
            <a:xfrm>
              <a:off x="5261103" y="3167734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170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641C8C7E-01F3-4A04-8DA2-8A28CF20084C}"/>
                </a:ext>
              </a:extLst>
            </p:cNvPr>
            <p:cNvSpPr txBox="1"/>
            <p:nvPr/>
          </p:nvSpPr>
          <p:spPr>
            <a:xfrm>
              <a:off x="6197603" y="3167734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144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D80EDC12-767E-48D9-9360-1D339F121F52}"/>
                </a:ext>
              </a:extLst>
            </p:cNvPr>
            <p:cNvSpPr txBox="1"/>
            <p:nvPr/>
          </p:nvSpPr>
          <p:spPr>
            <a:xfrm>
              <a:off x="7134101" y="316773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30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29A28334-E261-4EFD-BB08-84773CA76AF7}"/>
                </a:ext>
              </a:extLst>
            </p:cNvPr>
            <p:cNvSpPr txBox="1"/>
            <p:nvPr/>
          </p:nvSpPr>
          <p:spPr>
            <a:xfrm>
              <a:off x="8068328" y="3167733"/>
              <a:ext cx="539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 Rounded MT Bold" panose="020F0704030504030204" pitchFamily="34" charset="0"/>
                </a:rPr>
                <a:t>152</a:t>
              </a:r>
              <a:endParaRPr lang="zh-CN" altLang="en-US" sz="1400"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EF4A269C-2308-4DD5-A5BD-465E4505513D}"/>
              </a:ext>
            </a:extLst>
          </p:cNvPr>
          <p:cNvSpPr txBox="1"/>
          <p:nvPr/>
        </p:nvSpPr>
        <p:spPr>
          <a:xfrm>
            <a:off x="6197601" y="3699519"/>
            <a:ext cx="17970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spc="130" dirty="0"/>
              <a:t>色值最大值为</a:t>
            </a:r>
            <a:r>
              <a:rPr lang="en-US" altLang="zh-CN" sz="1000" spc="130" dirty="0"/>
              <a:t>255</a:t>
            </a:r>
          </a:p>
          <a:p>
            <a:r>
              <a:rPr lang="zh-CN" altLang="en-US" sz="1000" spc="130" dirty="0"/>
              <a:t>如果变色后的值大于</a:t>
            </a:r>
            <a:r>
              <a:rPr lang="en-US" altLang="zh-CN" sz="1000" spc="130" dirty="0"/>
              <a:t>255</a:t>
            </a:r>
            <a:r>
              <a:rPr lang="zh-CN" altLang="en-US" sz="1000" spc="130" dirty="0"/>
              <a:t>，直接减去</a:t>
            </a:r>
            <a:r>
              <a:rPr lang="en-US" altLang="zh-CN" sz="1000" spc="130" dirty="0"/>
              <a:t>255</a:t>
            </a:r>
            <a:r>
              <a:rPr lang="zh-CN" altLang="en-US" sz="1000" spc="130" dirty="0"/>
              <a:t>就行</a:t>
            </a:r>
          </a:p>
        </p:txBody>
      </p:sp>
    </p:spTree>
    <p:extLst>
      <p:ext uri="{BB962C8B-B14F-4D97-AF65-F5344CB8AC3E}">
        <p14:creationId xmlns:p14="http://schemas.microsoft.com/office/powerpoint/2010/main" val="110755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188</Words>
  <Application>Microsoft Office PowerPoint</Application>
  <PresentationFormat>宽屏</PresentationFormat>
  <Paragraphs>50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华文中宋</vt:lpstr>
      <vt:lpstr>Arial</vt:lpstr>
      <vt:lpstr>Arial Rounded MT Bold</vt:lpstr>
      <vt:lpstr>Office 主题​​</vt:lpstr>
      <vt:lpstr>2.商业报表的应用于美化之道</vt:lpstr>
      <vt:lpstr>小白也能轻松掌握的配色方法</vt:lpstr>
      <vt:lpstr>为什么你的配色那么辣眼睛</vt:lpstr>
      <vt:lpstr>我们该如何配色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2.商业报表的应用于美化之道</dc:title>
  <dc:creator>李 伟超</dc:creator>
  <cp:lastModifiedBy>李 伟超</cp:lastModifiedBy>
  <cp:revision>236</cp:revision>
  <dcterms:created xsi:type="dcterms:W3CDTF">2020-02-23T05:49:47Z</dcterms:created>
  <dcterms:modified xsi:type="dcterms:W3CDTF">2020-02-24T05:37:49Z</dcterms:modified>
</cp:coreProperties>
</file>